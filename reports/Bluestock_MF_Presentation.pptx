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34" dt="2026-08-13T10:34:33.022"/>
    <p1510:client id="{62762BB7-53F3-41F3-8E74-F30F7B94F81C}" v="1124" dt="2026-08-11T11:45:08.4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4776" y="519587"/>
            <a:ext cx="9144000" cy="2387600"/>
          </a:xfrm>
        </p:spPr>
        <p:txBody>
          <a:bodyPr>
            <a:normAutofit/>
          </a:bodyPr>
          <a:lstStyle/>
          <a:p>
            <a:r>
              <a:rPr lang="en-US" b="1">
                <a:latin typeface="Times New Roman"/>
                <a:ea typeface="+mj-lt"/>
                <a:cs typeface="Times New Roman"/>
              </a:rPr>
              <a:t>BLUESTOCK MUTUAL FUND ANALYTICS</a:t>
            </a:r>
            <a:endParaRPr lang="en-US" b="1">
              <a:latin typeface="Times New Roman"/>
              <a:cs typeface="Times New Roman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169859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latin typeface="Times New Roman"/>
                <a:ea typeface="+mn-lt"/>
                <a:cs typeface="Times New Roman"/>
              </a:rPr>
              <a:t>Data-Driven Analysis of Mutual Fund Performance, Risk and Investor </a:t>
            </a:r>
            <a:r>
              <a:rPr lang="en-US" b="1" dirty="0" err="1">
                <a:latin typeface="Times New Roman"/>
                <a:ea typeface="+mn-lt"/>
                <a:cs typeface="Times New Roman"/>
              </a:rPr>
              <a:t>Behaviour</a:t>
            </a:r>
            <a:endParaRPr lang="en-US" b="1" dirty="0">
              <a:latin typeface="Times New Roman"/>
              <a:ea typeface="+mn-lt"/>
              <a:cs typeface="Times New Roman"/>
            </a:endParaRPr>
          </a:p>
          <a:p>
            <a:r>
              <a:rPr lang="en-US" b="1">
                <a:latin typeface="Times New Roman"/>
                <a:ea typeface="+mn-lt"/>
                <a:cs typeface="Times New Roman"/>
              </a:rPr>
              <a:t>Final Capstone Project</a:t>
            </a:r>
            <a:endParaRPr lang="en-US" b="1">
              <a:latin typeface="Times New Roman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3BA6B3-4FF2-393E-59F6-1040C4FB50B5}"/>
              </a:ext>
            </a:extLst>
          </p:cNvPr>
          <p:cNvSpPr txBox="1"/>
          <p:nvPr/>
        </p:nvSpPr>
        <p:spPr>
          <a:xfrm>
            <a:off x="9102586" y="5088843"/>
            <a:ext cx="219941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Times New Roman"/>
                <a:ea typeface="+mn-lt"/>
                <a:cs typeface="Times New Roman"/>
              </a:rPr>
              <a:t>Prepared by: </a:t>
            </a:r>
            <a:endParaRPr lang="en-US" sz="2000">
              <a:latin typeface="Times New Roman"/>
              <a:cs typeface="Times New Roman"/>
            </a:endParaRPr>
          </a:p>
          <a:p>
            <a:r>
              <a:rPr lang="en-US" sz="2000" dirty="0" err="1">
                <a:latin typeface="Times New Roman"/>
                <a:ea typeface="+mn-lt"/>
                <a:cs typeface="Times New Roman"/>
              </a:rPr>
              <a:t>B.C.Sai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Vyshnavi</a:t>
            </a:r>
            <a:endParaRPr lang="en-US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8EEEA5-84D8-FF26-7CED-2DFF4A2A8429}"/>
              </a:ext>
            </a:extLst>
          </p:cNvPr>
          <p:cNvSpPr txBox="1"/>
          <p:nvPr/>
        </p:nvSpPr>
        <p:spPr>
          <a:xfrm>
            <a:off x="875731" y="1017896"/>
            <a:ext cx="10292686" cy="28007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b="1" dirty="0">
                <a:latin typeface="Times New Roman"/>
                <a:cs typeface="Times New Roman"/>
              </a:rPr>
              <a:t>                                              </a:t>
            </a:r>
            <a:r>
              <a:rPr lang="en-US" sz="3200" b="1">
                <a:latin typeface="Times New Roman"/>
                <a:cs typeface="Times New Roman"/>
              </a:rPr>
              <a:t>Problem Statement</a:t>
            </a:r>
            <a:endParaRPr lang="en-US" sz="3200"/>
          </a:p>
          <a:p>
            <a:pPr algn="just"/>
            <a:endParaRPr lang="en-US" sz="2400" dirty="0">
              <a:latin typeface="Times New Roman"/>
              <a:cs typeface="Times New Roman"/>
            </a:endParaRPr>
          </a:p>
          <a:p>
            <a:pPr algn="just"/>
            <a:r>
              <a:rPr lang="en-US" sz="2400" dirty="0">
                <a:latin typeface="Times New Roman"/>
                <a:cs typeface="Times New Roman"/>
              </a:rPr>
              <a:t>Mutual fund data contains information about schemes, NAV, performance, investor transactions, SIP activity, fund houses and portfolio holdings. </a:t>
            </a:r>
            <a:r>
              <a:rPr lang="en-US" sz="2400" dirty="0" err="1">
                <a:latin typeface="Times New Roman"/>
                <a:cs typeface="Times New Roman"/>
              </a:rPr>
              <a:t>Analysing</a:t>
            </a:r>
            <a:r>
              <a:rPr lang="en-US" sz="2400" dirty="0">
                <a:latin typeface="Times New Roman"/>
                <a:cs typeface="Times New Roman"/>
              </a:rPr>
              <a:t> these datasets together can help identify fund performance, risk characteristics and investor </a:t>
            </a:r>
            <a:r>
              <a:rPr lang="en-US" sz="2400" dirty="0" err="1">
                <a:latin typeface="Times New Roman"/>
                <a:cs typeface="Times New Roman"/>
              </a:rPr>
              <a:t>behaviour</a:t>
            </a:r>
            <a:r>
              <a:rPr lang="en-US" sz="2400" dirty="0">
                <a:latin typeface="Times New Roman"/>
                <a:cs typeface="Times New Roman"/>
              </a:rPr>
              <a:t>.</a:t>
            </a:r>
          </a:p>
          <a:p>
            <a:pPr algn="just"/>
            <a:endParaRPr lang="en-US"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50626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8E0ED-80D7-9255-8059-50B1CCBB2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34A1F4AB-C293-95BA-415C-D694E845F3C6}"/>
              </a:ext>
            </a:extLst>
          </p:cNvPr>
          <p:cNvSpPr txBox="1"/>
          <p:nvPr/>
        </p:nvSpPr>
        <p:spPr>
          <a:xfrm>
            <a:off x="807492" y="699448"/>
            <a:ext cx="10349552" cy="458587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3200" b="1">
                <a:latin typeface="Times New Roman"/>
                <a:cs typeface="Times New Roman"/>
              </a:rPr>
              <a:t>                                       Objectives</a:t>
            </a:r>
          </a:p>
          <a:p>
            <a:pPr algn="just"/>
            <a:endParaRPr lang="en-US" sz="2000" b="1" dirty="0">
              <a:latin typeface="Times New Roman"/>
              <a:cs typeface="Times New Roman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000">
                <a:latin typeface="Times New Roman"/>
                <a:cs typeface="Times New Roman"/>
              </a:rPr>
              <a:t>Build a reliable data ingestion and cleaning pipeline. </a:t>
            </a:r>
            <a:endParaRPr lang="en-US" sz="2000" dirty="0">
              <a:latin typeface="Times New Roman"/>
              <a:cs typeface="Times New Roman"/>
            </a:endParaRPr>
          </a:p>
          <a:p>
            <a:pPr algn="just"/>
            <a:endParaRPr lang="en-US" sz="2000" dirty="0">
              <a:latin typeface="Times New Roman"/>
              <a:cs typeface="Times New Roman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000" dirty="0" err="1">
                <a:latin typeface="Times New Roman"/>
                <a:cs typeface="Times New Roman"/>
              </a:rPr>
              <a:t>Analyse</a:t>
            </a:r>
            <a:r>
              <a:rPr lang="en-US" sz="2000" dirty="0">
                <a:latin typeface="Times New Roman"/>
                <a:cs typeface="Times New Roman"/>
              </a:rPr>
              <a:t> mutual fund performance using CAGR, Sharpe, Alpha and Beta.</a:t>
            </a:r>
          </a:p>
          <a:p>
            <a:pPr algn="just"/>
            <a:endParaRPr lang="en-US" sz="2000" dirty="0">
              <a:latin typeface="Times New Roman"/>
              <a:cs typeface="Times New Roman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Evaluate risk using drawdown and </a:t>
            </a:r>
            <a:r>
              <a:rPr lang="en-US" sz="2000" dirty="0" err="1">
                <a:latin typeface="Times New Roman"/>
                <a:cs typeface="Times New Roman"/>
              </a:rPr>
              <a:t>VaR</a:t>
            </a:r>
            <a:r>
              <a:rPr lang="en-US" sz="2000" dirty="0">
                <a:latin typeface="Times New Roman"/>
                <a:cs typeface="Times New Roman"/>
              </a:rPr>
              <a:t>/CVaR metrics. </a:t>
            </a:r>
          </a:p>
          <a:p>
            <a:pPr marL="342900" indent="-342900" algn="just">
              <a:buFont typeface="Arial"/>
              <a:buChar char="•"/>
            </a:pPr>
            <a:endParaRPr lang="en-US" sz="2000" dirty="0">
              <a:latin typeface="Times New Roman"/>
              <a:cs typeface="Times New Roman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000" dirty="0" err="1">
                <a:latin typeface="Times New Roman"/>
                <a:cs typeface="Times New Roman"/>
              </a:rPr>
              <a:t>Analyse</a:t>
            </a:r>
            <a:r>
              <a:rPr lang="en-US" sz="2000" dirty="0">
                <a:latin typeface="Times New Roman"/>
                <a:cs typeface="Times New Roman"/>
              </a:rPr>
              <a:t> investor transactions and SIP </a:t>
            </a:r>
            <a:r>
              <a:rPr lang="en-US" sz="2000" dirty="0" err="1">
                <a:latin typeface="Times New Roman"/>
                <a:cs typeface="Times New Roman"/>
              </a:rPr>
              <a:t>behaviour</a:t>
            </a:r>
            <a:r>
              <a:rPr lang="en-US" sz="2000" dirty="0">
                <a:latin typeface="Times New Roman"/>
                <a:cs typeface="Times New Roman"/>
              </a:rPr>
              <a:t>. </a:t>
            </a:r>
          </a:p>
          <a:p>
            <a:pPr marL="342900" indent="-342900" algn="just">
              <a:buFont typeface="Arial"/>
              <a:buChar char="•"/>
            </a:pPr>
            <a:endParaRPr lang="en-US" sz="2000" dirty="0">
              <a:latin typeface="Times New Roman"/>
              <a:cs typeface="Times New Roman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000">
                <a:latin typeface="Times New Roman"/>
                <a:cs typeface="Times New Roman"/>
              </a:rPr>
              <a:t>Develop an interactive Power BI dashboard. </a:t>
            </a:r>
            <a:endParaRPr lang="en-US" sz="2000" dirty="0">
              <a:latin typeface="Times New Roman"/>
              <a:cs typeface="Times New Roman"/>
            </a:endParaRPr>
          </a:p>
          <a:p>
            <a:pPr marL="342900" indent="-342900" algn="just">
              <a:buFont typeface="Arial"/>
              <a:buChar char="•"/>
            </a:pPr>
            <a:endParaRPr lang="en-US" sz="2000" dirty="0">
              <a:latin typeface="Times New Roman"/>
              <a:cs typeface="Times New Roman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000">
                <a:latin typeface="Times New Roman"/>
                <a:cs typeface="Times New Roman"/>
              </a:rPr>
              <a:t>Generate advanced analytics and risk-based fund recommendations. </a:t>
            </a:r>
            <a:endParaRPr lang="en-US" sz="2000" dirty="0">
              <a:latin typeface="Times New Roman"/>
              <a:cs typeface="Times New Roman"/>
            </a:endParaRPr>
          </a:p>
          <a:p>
            <a:pPr algn="just"/>
            <a:endParaRPr lang="en-US" sz="2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89939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1AB25-366B-9747-02AE-A88F38A59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BC82A9-6E37-8237-90C2-73163B1AA43F}"/>
              </a:ext>
            </a:extLst>
          </p:cNvPr>
          <p:cNvSpPr txBox="1"/>
          <p:nvPr/>
        </p:nvSpPr>
        <p:spPr>
          <a:xfrm>
            <a:off x="4560626" y="-358254"/>
            <a:ext cx="6096000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3200" b="1" dirty="0">
              <a:latin typeface="Times New Roman"/>
              <a:cs typeface="Times New Roman"/>
            </a:endParaRPr>
          </a:p>
          <a:p>
            <a:r>
              <a:rPr lang="en-US" sz="3200" b="1">
                <a:latin typeface="Times New Roman"/>
                <a:cs typeface="Times New Roman"/>
              </a:rPr>
              <a:t>Data Sources</a:t>
            </a:r>
            <a:endParaRPr lang="en-US" sz="3200" b="1" dirty="0">
              <a:latin typeface="Times New Roman"/>
              <a:cs typeface="Times New Roman"/>
            </a:endParaRPr>
          </a:p>
          <a:p>
            <a:pPr algn="ctr"/>
            <a:endParaRPr lang="en-US" sz="3200" dirty="0">
              <a:latin typeface="Times New Roman"/>
              <a:cs typeface="Times New Roman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552EA93-55DE-6BA5-8214-85ED29BBB4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1877784"/>
              </p:ext>
            </p:extLst>
          </p:nvPr>
        </p:nvGraphicFramePr>
        <p:xfrm>
          <a:off x="1863829" y="983958"/>
          <a:ext cx="8168640" cy="46177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4320">
                  <a:extLst>
                    <a:ext uri="{9D8B030D-6E8A-4147-A177-3AD203B41FA5}">
                      <a16:colId xmlns:a16="http://schemas.microsoft.com/office/drawing/2014/main" val="788266403"/>
                    </a:ext>
                  </a:extLst>
                </a:gridCol>
                <a:gridCol w="4084320">
                  <a:extLst>
                    <a:ext uri="{9D8B030D-6E8A-4147-A177-3AD203B41FA5}">
                      <a16:colId xmlns:a16="http://schemas.microsoft.com/office/drawing/2014/main" val="890343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/>
                          <a:cs typeface="Times New Roman"/>
                        </a:rPr>
                        <a:t>                           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/>
                          <a:cs typeface="Times New Roman"/>
                        </a:rPr>
                        <a:t>                                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78742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imes New Roman"/>
                          <a:cs typeface="Times New Roman"/>
                        </a:rPr>
                        <a:t>Fund Master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imes New Roman"/>
                          <a:cs typeface="Times New Roman"/>
                        </a:rPr>
                        <a:t>Scheme details, category and risk information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3428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imes New Roman"/>
                          <a:cs typeface="Times New Roman"/>
                        </a:rPr>
                        <a:t>NAV History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imes New Roman"/>
                          <a:cs typeface="Times New Roman"/>
                        </a:rPr>
                        <a:t>Daily NAV and return analysis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71943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lang="en-US" sz="1800" b="0" i="0" u="none" strike="noStrike" noProof="0">
                          <a:latin typeface="Times New Roman"/>
                          <a:cs typeface="Times New Roman"/>
                        </a:rPr>
                        <a:t>UM by Fund House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imes New Roman"/>
                          <a:cs typeface="Times New Roman"/>
                        </a:rPr>
                        <a:t>Assets under management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25268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imes New Roman"/>
                          <a:cs typeface="Times New Roman"/>
                        </a:rPr>
                        <a:t>Monthly SIP Inflows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SIP investment trends</a:t>
                      </a:r>
                    </a:p>
                    <a:p>
                      <a:pPr lvl="0">
                        <a:buNone/>
                      </a:pPr>
                      <a:endParaRPr lang="en-US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1664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imes New Roman"/>
                          <a:cs typeface="Times New Roman"/>
                        </a:rPr>
                        <a:t>Category Inflows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imes New Roman"/>
                          <a:cs typeface="Times New Roman"/>
                        </a:rPr>
                        <a:t>Category-level investor flows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750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imes New Roman"/>
                          <a:cs typeface="Times New Roman"/>
                        </a:rPr>
                        <a:t>Folio Count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imes New Roman"/>
                          <a:cs typeface="Times New Roman"/>
                        </a:rPr>
                        <a:t>Growth in investor folios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4762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imes New Roman"/>
                          <a:cs typeface="Times New Roman"/>
                        </a:rPr>
                        <a:t>Scheme Performance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imes New Roman"/>
                          <a:cs typeface="Times New Roman"/>
                        </a:rPr>
                        <a:t>Returns and performance metrics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4753692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imes New Roman"/>
                          <a:cs typeface="Times New Roman"/>
                        </a:rPr>
                        <a:t>Investor Transactions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Times New Roman"/>
                          <a:cs typeface="Times New Roman"/>
                        </a:rPr>
                        <a:t>Investor </a:t>
                      </a:r>
                      <a:r>
                        <a:rPr lang="en-US" sz="1800" b="0" i="0" u="none" strike="noStrike" noProof="0" dirty="0" err="1">
                          <a:latin typeface="Times New Roman"/>
                          <a:cs typeface="Times New Roman"/>
                        </a:rPr>
                        <a:t>behaviour</a:t>
                      </a:r>
                      <a:r>
                        <a:rPr lang="en-US" sz="1800" b="0" i="0" u="none" strike="noStrike" noProof="0" dirty="0">
                          <a:latin typeface="Times New Roman"/>
                          <a:cs typeface="Times New Roman"/>
                        </a:rPr>
                        <a:t> analysis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758830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imes New Roman"/>
                          <a:cs typeface="Times New Roman"/>
                        </a:rPr>
                        <a:t>Portfolio Holdings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imes New Roman"/>
                          <a:cs typeface="Times New Roman"/>
                        </a:rPr>
                        <a:t>Sector concentration and HHI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241496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imes New Roman"/>
                          <a:cs typeface="Times New Roman"/>
                        </a:rPr>
                        <a:t>Benchmark Indices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imes New Roman"/>
                          <a:cs typeface="Times New Roman"/>
                        </a:rPr>
                        <a:t>Benchmark comparison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928273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86299F9-60EE-6B0A-AC37-FFCC3F497C44}"/>
              </a:ext>
            </a:extLst>
          </p:cNvPr>
          <p:cNvSpPr txBox="1"/>
          <p:nvPr/>
        </p:nvSpPr>
        <p:spPr>
          <a:xfrm>
            <a:off x="2690943" y="6007633"/>
            <a:ext cx="784077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40 schemes | 10 fund houses | 46,000 NAV records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1045682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27AFD-7693-7893-82DD-04A955398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D899D53-4C69-F9A2-68F8-F2CB90FDC992}"/>
              </a:ext>
            </a:extLst>
          </p:cNvPr>
          <p:cNvSpPr/>
          <p:nvPr/>
        </p:nvSpPr>
        <p:spPr>
          <a:xfrm>
            <a:off x="843490" y="2054190"/>
            <a:ext cx="1669444" cy="559192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Raw CSV Data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8A23CB-4F19-45A7-3784-DD10991777E9}"/>
              </a:ext>
            </a:extLst>
          </p:cNvPr>
          <p:cNvSpPr txBox="1"/>
          <p:nvPr/>
        </p:nvSpPr>
        <p:spPr>
          <a:xfrm>
            <a:off x="4249001" y="285638"/>
            <a:ext cx="284210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latin typeface="Times New Roman"/>
                <a:ea typeface="+mn-lt"/>
                <a:cs typeface="Times New Roman"/>
              </a:rPr>
              <a:t>   Architecture</a:t>
            </a:r>
            <a:endParaRPr lang="en-US" sz="3200" b="1">
              <a:latin typeface="Times New Roman"/>
              <a:cs typeface="Times New Roman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3DFACF-E225-6909-7890-57E496EAFFF4}"/>
              </a:ext>
            </a:extLst>
          </p:cNvPr>
          <p:cNvSpPr/>
          <p:nvPr/>
        </p:nvSpPr>
        <p:spPr>
          <a:xfrm>
            <a:off x="3409636" y="2054190"/>
            <a:ext cx="1669444" cy="559192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Data Ingestion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203DE9-47D3-7749-4DA3-F57B339718BC}"/>
              </a:ext>
            </a:extLst>
          </p:cNvPr>
          <p:cNvSpPr/>
          <p:nvPr/>
        </p:nvSpPr>
        <p:spPr>
          <a:xfrm>
            <a:off x="5964576" y="2099013"/>
            <a:ext cx="1669444" cy="559192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+mn-lt"/>
                <a:cs typeface="+mn-lt"/>
              </a:rPr>
              <a:t>Data Cleaning &amp; Validation</a:t>
            </a: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EF5259-6475-ACEE-FB2E-8D29C1DDE6FA}"/>
              </a:ext>
            </a:extLst>
          </p:cNvPr>
          <p:cNvSpPr/>
          <p:nvPr/>
        </p:nvSpPr>
        <p:spPr>
          <a:xfrm>
            <a:off x="8519518" y="2099012"/>
            <a:ext cx="1669444" cy="559192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Processed Datasets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E8F1ED-FE7D-A1C3-E867-C1C058E02272}"/>
              </a:ext>
            </a:extLst>
          </p:cNvPr>
          <p:cNvSpPr/>
          <p:nvPr/>
        </p:nvSpPr>
        <p:spPr>
          <a:xfrm>
            <a:off x="8777253" y="3623013"/>
            <a:ext cx="1669444" cy="559192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SQLite Database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5DD307-343E-E342-361B-29B139CEB2D8}"/>
              </a:ext>
            </a:extLst>
          </p:cNvPr>
          <p:cNvSpPr/>
          <p:nvPr/>
        </p:nvSpPr>
        <p:spPr>
          <a:xfrm>
            <a:off x="6099047" y="3623013"/>
            <a:ext cx="1669444" cy="559192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Analytics &amp; Risk Metrics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E36523-3BE2-39E8-DD1B-F4889BE931DE}"/>
              </a:ext>
            </a:extLst>
          </p:cNvPr>
          <p:cNvSpPr/>
          <p:nvPr/>
        </p:nvSpPr>
        <p:spPr>
          <a:xfrm>
            <a:off x="3409636" y="3623013"/>
            <a:ext cx="1669444" cy="559192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Power BI Dashboard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6928794-FDF6-D4B7-C77C-BD19BFC717F1}"/>
              </a:ext>
            </a:extLst>
          </p:cNvPr>
          <p:cNvSpPr/>
          <p:nvPr/>
        </p:nvSpPr>
        <p:spPr>
          <a:xfrm>
            <a:off x="843488" y="3623013"/>
            <a:ext cx="1669444" cy="124275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Final Reports &amp; Recommendations</a:t>
            </a:r>
            <a:endParaRPr lang="en-US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9F15B98-B793-A591-84D6-487E42574929}"/>
              </a:ext>
            </a:extLst>
          </p:cNvPr>
          <p:cNvCxnSpPr>
            <a:cxnSpLocks/>
          </p:cNvCxnSpPr>
          <p:nvPr/>
        </p:nvCxnSpPr>
        <p:spPr>
          <a:xfrm flipV="1">
            <a:off x="5080643" y="2378927"/>
            <a:ext cx="881523" cy="30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772D9AE-24D8-F4D5-7DE5-740EA58F9CF1}"/>
              </a:ext>
            </a:extLst>
          </p:cNvPr>
          <p:cNvCxnSpPr>
            <a:cxnSpLocks/>
          </p:cNvCxnSpPr>
          <p:nvPr/>
        </p:nvCxnSpPr>
        <p:spPr>
          <a:xfrm flipV="1">
            <a:off x="7635583" y="2378926"/>
            <a:ext cx="881523" cy="30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F362098-61C1-9E5A-D216-C8C023DB859F}"/>
              </a:ext>
            </a:extLst>
          </p:cNvPr>
          <p:cNvCxnSpPr>
            <a:cxnSpLocks/>
          </p:cNvCxnSpPr>
          <p:nvPr/>
        </p:nvCxnSpPr>
        <p:spPr>
          <a:xfrm flipH="1">
            <a:off x="9492019" y="2673360"/>
            <a:ext cx="3741" cy="9494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6BFC9CD-88FA-0880-3AE0-FB024C5C4B6D}"/>
              </a:ext>
            </a:extLst>
          </p:cNvPr>
          <p:cNvCxnSpPr/>
          <p:nvPr/>
        </p:nvCxnSpPr>
        <p:spPr>
          <a:xfrm flipH="1">
            <a:off x="7769363" y="3927527"/>
            <a:ext cx="971170" cy="142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47102EC-3062-ED4C-8970-8E7E902E33DF}"/>
              </a:ext>
            </a:extLst>
          </p:cNvPr>
          <p:cNvCxnSpPr>
            <a:cxnSpLocks/>
          </p:cNvCxnSpPr>
          <p:nvPr/>
        </p:nvCxnSpPr>
        <p:spPr>
          <a:xfrm flipH="1">
            <a:off x="5113569" y="3916320"/>
            <a:ext cx="1015994" cy="30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E22E88F-9822-E8A9-D948-CEA49CB438AC}"/>
              </a:ext>
            </a:extLst>
          </p:cNvPr>
          <p:cNvCxnSpPr>
            <a:cxnSpLocks/>
          </p:cNvCxnSpPr>
          <p:nvPr/>
        </p:nvCxnSpPr>
        <p:spPr>
          <a:xfrm flipV="1">
            <a:off x="2514495" y="2334103"/>
            <a:ext cx="881523" cy="30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5EBAB26-FD4A-A0CC-AB0B-EC6A18348E10}"/>
              </a:ext>
            </a:extLst>
          </p:cNvPr>
          <p:cNvCxnSpPr/>
          <p:nvPr/>
        </p:nvCxnSpPr>
        <p:spPr>
          <a:xfrm flipH="1">
            <a:off x="2499336" y="3898963"/>
            <a:ext cx="899760" cy="142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4A2A45F-9DFB-5A34-6ED5-B0A5D49F7F90}"/>
              </a:ext>
            </a:extLst>
          </p:cNvPr>
          <p:cNvSpPr txBox="1"/>
          <p:nvPr/>
        </p:nvSpPr>
        <p:spPr>
          <a:xfrm>
            <a:off x="1019735" y="5546911"/>
            <a:ext cx="9009529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Times New Roman"/>
                <a:cs typeface="Times New Roman"/>
              </a:rPr>
              <a:t>Tools Used</a:t>
            </a:r>
            <a:endParaRPr lang="en-US" sz="2000" dirty="0">
              <a:latin typeface="Times New Roman"/>
              <a:cs typeface="Times New Roman"/>
            </a:endParaRPr>
          </a:p>
          <a:p>
            <a:r>
              <a:rPr lang="en-US" sz="2000">
                <a:latin typeface="Times New Roman"/>
                <a:cs typeface="Times New Roman"/>
              </a:rPr>
              <a:t>Python | Pandas | NumPy | SciPy | Matplotlib | SQLite | SQL | Power BI</a:t>
            </a:r>
            <a:endParaRPr lang="en-US" sz="2000" dirty="0">
              <a:latin typeface="Times New Roman"/>
              <a:cs typeface="Times New Roman"/>
            </a:endParaRPr>
          </a:p>
          <a:p>
            <a:pPr algn="ctr"/>
            <a:endParaRPr lang="en-US" sz="2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8661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75386-9298-AE2E-324D-4B17EF6E9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3CC37B-2CB2-D7AA-9DD2-97BFBE2A149B}"/>
              </a:ext>
            </a:extLst>
          </p:cNvPr>
          <p:cNvSpPr txBox="1"/>
          <p:nvPr/>
        </p:nvSpPr>
        <p:spPr>
          <a:xfrm>
            <a:off x="2480661" y="269155"/>
            <a:ext cx="819782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latin typeface="Times New Roman"/>
                <a:ea typeface="+mn-lt"/>
                <a:cs typeface="Times New Roman"/>
              </a:rPr>
              <a:t>EDA Highlights — Fund Universe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38D67E-6DD2-054A-F396-143AB07468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919" y="1084169"/>
            <a:ext cx="5866280" cy="34009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8015174-0AB2-5311-8BD3-CB1BBCFEA0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6537" y="1084170"/>
            <a:ext cx="5474074" cy="34009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60B96A0-71B3-0C80-780F-282409F2E35D}"/>
              </a:ext>
            </a:extLst>
          </p:cNvPr>
          <p:cNvSpPr txBox="1"/>
          <p:nvPr/>
        </p:nvSpPr>
        <p:spPr>
          <a:xfrm>
            <a:off x="1680882" y="4706471"/>
            <a:ext cx="8012205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The dataset contains </a:t>
            </a:r>
            <a:r>
              <a:rPr lang="en-US" b="1">
                <a:latin typeface="Times New Roman"/>
                <a:cs typeface="Times New Roman"/>
              </a:rPr>
              <a:t>40 mutual fund schemes</a:t>
            </a:r>
            <a:r>
              <a:rPr lang="en-US">
                <a:latin typeface="Times New Roman"/>
                <a:cs typeface="Times New Roman"/>
              </a:rPr>
              <a:t>.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The schemes belong to </a:t>
            </a:r>
            <a:r>
              <a:rPr lang="en-US" b="1">
                <a:latin typeface="Times New Roman"/>
                <a:cs typeface="Times New Roman"/>
              </a:rPr>
              <a:t>10 fund houses</a:t>
            </a:r>
            <a:r>
              <a:rPr lang="en-US">
                <a:latin typeface="Times New Roman"/>
                <a:cs typeface="Times New Roman"/>
              </a:rPr>
              <a:t>. 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Equity and Debt are the major fund categories. 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Times New Roman"/>
                <a:cs typeface="Times New Roman"/>
              </a:rPr>
              <a:t>Moderate-risk funds form a significant portion of the </a:t>
            </a:r>
            <a:r>
              <a:rPr lang="en-US" dirty="0" err="1">
                <a:latin typeface="Times New Roman"/>
                <a:cs typeface="Times New Roman"/>
              </a:rPr>
              <a:t>analysed</a:t>
            </a:r>
            <a:r>
              <a:rPr lang="en-US" dirty="0">
                <a:latin typeface="Times New Roman"/>
                <a:cs typeface="Times New Roman"/>
              </a:rPr>
              <a:t> schemes. 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Average expense ratio is approximately </a:t>
            </a:r>
            <a:r>
              <a:rPr lang="en-US" b="1">
                <a:latin typeface="Times New Roman"/>
                <a:cs typeface="Times New Roman"/>
              </a:rPr>
              <a:t>1.237%</a:t>
            </a:r>
            <a:r>
              <a:rPr lang="en-US">
                <a:latin typeface="Times New Roman"/>
                <a:cs typeface="Times New Roman"/>
              </a:rPr>
              <a:t>. 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Maximum expense ratio is </a:t>
            </a:r>
            <a:r>
              <a:rPr lang="en-US" b="1">
                <a:latin typeface="Times New Roman"/>
                <a:cs typeface="Times New Roman"/>
              </a:rPr>
              <a:t>1.64%</a:t>
            </a:r>
            <a:r>
              <a:rPr lang="en-US">
                <a:latin typeface="Times New Roman"/>
                <a:cs typeface="Times New Roman"/>
              </a:rPr>
              <a:t>.</a:t>
            </a:r>
          </a:p>
          <a:p>
            <a:pPr marL="285750" indent="-285750" algn="ctr">
              <a:buFont typeface="Arial"/>
              <a:buChar char="•"/>
            </a:pPr>
            <a:endParaRPr lang="en-US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62261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F2BAA-872E-8011-8EAA-E00F501F8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AB0E1F-5F14-2BA9-5EF6-679EEC410AB2}"/>
              </a:ext>
            </a:extLst>
          </p:cNvPr>
          <p:cNvSpPr txBox="1"/>
          <p:nvPr/>
        </p:nvSpPr>
        <p:spPr>
          <a:xfrm>
            <a:off x="1651426" y="269155"/>
            <a:ext cx="902705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latin typeface="Times New Roman"/>
                <a:ea typeface="+mn-lt"/>
                <a:cs typeface="Times New Roman"/>
              </a:rPr>
              <a:t>    EDA Highlights — INVESTOR BEHAVIOUR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36C319-AAED-FBE7-F0A3-4AE837B253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78" y="854449"/>
            <a:ext cx="5574928" cy="41181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B43C327-7261-D1A5-B2F4-1DBBCB911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9508" y="983316"/>
            <a:ext cx="6258485" cy="38604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0656066-CBEE-B1D3-9437-E8D9E1178C27}"/>
              </a:ext>
            </a:extLst>
          </p:cNvPr>
          <p:cNvSpPr txBox="1"/>
          <p:nvPr/>
        </p:nvSpPr>
        <p:spPr>
          <a:xfrm>
            <a:off x="1557619" y="4975412"/>
            <a:ext cx="10623175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Investment activity varies across different investor age groups.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The analysis shows differences in the amount invested across age segments. </a:t>
            </a:r>
            <a:endParaRPr lang="en-US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Investors use multiple payment modes for mutual fund transactions. </a:t>
            </a:r>
            <a:endParaRPr lang="en-US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Understanding age and payment preferences can help improve investor targeting and engagement strategies. </a:t>
            </a:r>
            <a:endParaRPr lang="en-US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Times New Roman"/>
                <a:cs typeface="Times New Roman"/>
              </a:rPr>
              <a:t>Investor </a:t>
            </a:r>
            <a:r>
              <a:rPr lang="en-US" dirty="0" err="1">
                <a:latin typeface="Times New Roman"/>
                <a:cs typeface="Times New Roman"/>
              </a:rPr>
              <a:t>behaviour</a:t>
            </a:r>
            <a:r>
              <a:rPr lang="en-US" dirty="0">
                <a:latin typeface="Times New Roman"/>
                <a:cs typeface="Times New Roman"/>
              </a:rPr>
              <a:t> analysis provides additional context for understanding participation in mutual funds. </a:t>
            </a:r>
          </a:p>
          <a:p>
            <a:pPr marL="285750" indent="-285750" algn="ctr">
              <a:buFont typeface="Arial"/>
              <a:buChar char="•"/>
            </a:pPr>
            <a:endParaRPr lang="en-US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2537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574A1-E071-BF42-DA1E-11D784262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F3C5B7-B5F4-23E3-2C76-7BE5AA3265EC}"/>
              </a:ext>
            </a:extLst>
          </p:cNvPr>
          <p:cNvSpPr txBox="1"/>
          <p:nvPr/>
        </p:nvSpPr>
        <p:spPr>
          <a:xfrm>
            <a:off x="664432" y="201482"/>
            <a:ext cx="11307362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latin typeface="Times New Roman"/>
                <a:ea typeface="+mn-lt"/>
                <a:cs typeface="Times New Roman"/>
              </a:rPr>
              <a:t>EDA HIGHLIGHTS: MARKET &amp; INVESTMENT TRENDS</a:t>
            </a:r>
            <a:endParaRPr lang="en-US" sz="3200" b="1">
              <a:latin typeface="Times New Roman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B3534A-37F9-E74D-E619-78A6A42C92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794" y="904200"/>
            <a:ext cx="5838266" cy="33014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B99D7FC-660A-5E37-B582-7E50614DBD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9411" y="901977"/>
            <a:ext cx="5479676" cy="34291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197D1FC-304F-3FB0-CCF6-31D10C07D0A9}"/>
              </a:ext>
            </a:extLst>
          </p:cNvPr>
          <p:cNvSpPr txBox="1"/>
          <p:nvPr/>
        </p:nvSpPr>
        <p:spPr>
          <a:xfrm>
            <a:off x="1546412" y="4639236"/>
            <a:ext cx="9323294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latin typeface="Times New Roman"/>
                <a:cs typeface="Times New Roman"/>
              </a:rPr>
              <a:t>Monthly SIP inflows show changes in investor contribution levels over the </a:t>
            </a:r>
            <a:r>
              <a:rPr lang="en-US" dirty="0" err="1">
                <a:latin typeface="Times New Roman"/>
                <a:cs typeface="Times New Roman"/>
              </a:rPr>
              <a:t>analysed</a:t>
            </a:r>
            <a:r>
              <a:rPr lang="en-US" dirty="0">
                <a:latin typeface="Times New Roman"/>
                <a:cs typeface="Times New Roman"/>
              </a:rPr>
              <a:t> period. 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Mutual fund folios show an overall change in investor participation between 2022 and 2025. </a:t>
            </a:r>
            <a:endParaRPr lang="en-US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Times New Roman"/>
                <a:cs typeface="Times New Roman"/>
              </a:rPr>
              <a:t>SIP activity provides an indication of recurring investment </a:t>
            </a:r>
            <a:r>
              <a:rPr lang="en-US" dirty="0" err="1">
                <a:latin typeface="Times New Roman"/>
                <a:cs typeface="Times New Roman"/>
              </a:rPr>
              <a:t>behaviour</a:t>
            </a:r>
            <a:r>
              <a:rPr lang="en-US" dirty="0">
                <a:latin typeface="Times New Roman"/>
                <a:cs typeface="Times New Roman"/>
              </a:rPr>
              <a:t>. 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Growth in folios reflects changes in the number of investor accounts over time. </a:t>
            </a:r>
            <a:endParaRPr lang="en-US" dirty="0">
              <a:latin typeface="Times New Roman"/>
              <a:cs typeface="Times New Roman"/>
            </a:endParaRPr>
          </a:p>
          <a:p>
            <a:pPr marL="285750" indent="-285750" algn="ctr">
              <a:buFont typeface="Arial"/>
              <a:buChar char="•"/>
            </a:pPr>
            <a:endParaRPr lang="en-US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14255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CA51A-EA84-D4BD-C7AB-FBE1D21AE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C08E96-8644-1675-BF17-D4BE73BF9BFB}"/>
              </a:ext>
            </a:extLst>
          </p:cNvPr>
          <p:cNvSpPr txBox="1"/>
          <p:nvPr/>
        </p:nvSpPr>
        <p:spPr>
          <a:xfrm>
            <a:off x="2094392" y="198187"/>
            <a:ext cx="9254258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latin typeface="Times New Roman"/>
                <a:ea typeface="+mn-lt"/>
                <a:cs typeface="Times New Roman"/>
              </a:rPr>
              <a:t>PERFORMANCE METRICS: RETURNS</a:t>
            </a:r>
            <a:endParaRPr lang="en-US" sz="3200" b="1">
              <a:latin typeface="Times New Roman"/>
              <a:cs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FB736F-0B51-46B1-B86F-6F67F3FC84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301" y="776007"/>
            <a:ext cx="6067987" cy="36587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A30A9D7-3C08-38DD-796D-FBAA0222BF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6889" y="776006"/>
            <a:ext cx="5731809" cy="36587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2AB9521-BFC2-0EEE-5173-96475407D654}"/>
              </a:ext>
            </a:extLst>
          </p:cNvPr>
          <p:cNvSpPr txBox="1"/>
          <p:nvPr/>
        </p:nvSpPr>
        <p:spPr>
          <a:xfrm>
            <a:off x="1568824" y="4829735"/>
            <a:ext cx="10006852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latin typeface="Times New Roman"/>
                <a:cs typeface="Times New Roman"/>
              </a:rPr>
              <a:t>The 3-Year CAGR comparison identifies funds with stronger </a:t>
            </a:r>
            <a:r>
              <a:rPr lang="en-US" dirty="0" err="1">
                <a:latin typeface="Times New Roman"/>
                <a:cs typeface="Times New Roman"/>
              </a:rPr>
              <a:t>annualised</a:t>
            </a:r>
            <a:r>
              <a:rPr lang="en-US" dirty="0">
                <a:latin typeface="Times New Roman"/>
                <a:cs typeface="Times New Roman"/>
              </a:rPr>
              <a:t> historical growth. 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Alpha analysis highlights funds that generated stronger performance relative to their benchmarks. 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Fund performance varies significantly across schemes. 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Evaluating both return and benchmark-relative performance provides a more complete view of fund quality. 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Historical performance should be considered together with risk before making investment decisions.</a:t>
            </a:r>
          </a:p>
          <a:p>
            <a:pPr marL="285750" indent="-285750" algn="ctr">
              <a:buFont typeface="Arial"/>
              <a:buChar char="•"/>
            </a:pPr>
            <a:endParaRPr lang="en-US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963046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DAFA6-13FF-D6BA-4D7F-7EC242E7A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97F166-9552-2C4D-75B4-856F8F982529}"/>
              </a:ext>
            </a:extLst>
          </p:cNvPr>
          <p:cNvSpPr txBox="1"/>
          <p:nvPr/>
        </p:nvSpPr>
        <p:spPr>
          <a:xfrm>
            <a:off x="914042" y="242792"/>
            <a:ext cx="10425800" cy="10711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EE91CF-BCE7-CFE2-EDFF-AABE3457B889}"/>
              </a:ext>
            </a:extLst>
          </p:cNvPr>
          <p:cNvSpPr txBox="1"/>
          <p:nvPr/>
        </p:nvSpPr>
        <p:spPr>
          <a:xfrm>
            <a:off x="1667252" y="183906"/>
            <a:ext cx="11649459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latin typeface="Times New Roman"/>
                <a:ea typeface="+mn-lt"/>
                <a:cs typeface="Times New Roman"/>
              </a:rPr>
              <a:t>METRICS: RISK-ADJUSTED </a:t>
            </a:r>
            <a:r>
              <a:rPr lang="en-US" sz="3200" b="1" dirty="0">
                <a:latin typeface="Times New Roman"/>
                <a:ea typeface="+mn-lt"/>
                <a:cs typeface="Times New Roman"/>
              </a:rPr>
              <a:t>PERFORMANCE</a:t>
            </a:r>
            <a:endParaRPr lang="en-US" sz="3200" b="1" dirty="0">
              <a:latin typeface="Times New Roman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811E5F-FAFE-850C-007A-F6A339DFF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831" y="776007"/>
            <a:ext cx="5418044" cy="37259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9276BAD-36D2-F8B2-C833-48ED51F8EA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1212" y="776007"/>
            <a:ext cx="5843869" cy="37147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8DBF10-60EC-6851-0098-1C658BE499E9}"/>
              </a:ext>
            </a:extLst>
          </p:cNvPr>
          <p:cNvSpPr txBox="1"/>
          <p:nvPr/>
        </p:nvSpPr>
        <p:spPr>
          <a:xfrm>
            <a:off x="2028265" y="4504764"/>
            <a:ext cx="9312088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Sharpe ratio measures return relative to volatility.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Maximum drawdown measures the largest decline from a previous portfolio peak. 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Funds with higher returns may also experience higher downside risk. 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Risk-adjusted metrics provide a better comparison than returns alone. 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The highest historical Sharpe ratio in the </a:t>
            </a:r>
            <a:r>
              <a:rPr lang="en-US" err="1">
                <a:latin typeface="Times New Roman"/>
                <a:cs typeface="Times New Roman"/>
              </a:rPr>
              <a:t>analysed</a:t>
            </a:r>
            <a:r>
              <a:rPr lang="en-US">
                <a:latin typeface="Times New Roman"/>
                <a:cs typeface="Times New Roman"/>
              </a:rPr>
              <a:t> dataset was 13.6559, recorded by ICICI Pru Liquid Fund - Regular - Growth.</a:t>
            </a:r>
          </a:p>
          <a:p>
            <a:pPr marL="285750" indent="-285750" algn="ctr">
              <a:buFont typeface="Arial"/>
              <a:buChar char="•"/>
            </a:pPr>
            <a:endParaRPr lang="en-US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791002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9E17C-FCD4-D76E-44E0-DFA5CB2A7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351907-6595-1B9F-D078-F6ED84E5D5D7}"/>
              </a:ext>
            </a:extLst>
          </p:cNvPr>
          <p:cNvSpPr txBox="1"/>
          <p:nvPr/>
        </p:nvSpPr>
        <p:spPr>
          <a:xfrm>
            <a:off x="3243983" y="197526"/>
            <a:ext cx="5498538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latin typeface="Times New Roman"/>
                <a:ea typeface="+mn-lt"/>
                <a:cs typeface="Times New Roman"/>
              </a:rPr>
              <a:t>POWER BI DASHBOARD</a:t>
            </a:r>
            <a:endParaRPr lang="en-US" sz="3200" b="1">
              <a:latin typeface="Times New Roman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6BD8FE-E10A-A574-7A77-B66713450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99" y="784411"/>
            <a:ext cx="8819032" cy="55020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AD309E-6FBE-605B-3728-F9639E54EDF4}"/>
              </a:ext>
            </a:extLst>
          </p:cNvPr>
          <p:cNvSpPr txBox="1"/>
          <p:nvPr/>
        </p:nvSpPr>
        <p:spPr>
          <a:xfrm>
            <a:off x="9009528" y="2790265"/>
            <a:ext cx="3350561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Fund house and AUM overview 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Fund category analysis 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Interactive slicers and filters</a:t>
            </a:r>
          </a:p>
          <a:p>
            <a:pPr marL="285750" indent="-285750" algn="ctr">
              <a:buFont typeface="Arial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2017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F7980-82E1-E6E4-1318-C1692F80E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23DFFF0-62FC-44FF-A4DA-C11775B825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85"/>
          <a:stretch>
            <a:fillRect/>
          </a:stretch>
        </p:blipFill>
        <p:spPr>
          <a:xfrm>
            <a:off x="-1681" y="192180"/>
            <a:ext cx="9584364" cy="646243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0459A6D-6E11-D0D9-8114-3F7E5B910A04}"/>
              </a:ext>
            </a:extLst>
          </p:cNvPr>
          <p:cNvSpPr txBox="1"/>
          <p:nvPr/>
        </p:nvSpPr>
        <p:spPr>
          <a:xfrm>
            <a:off x="9569824" y="2790264"/>
            <a:ext cx="6096000" cy="141577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700">
                <a:latin typeface="Times New Roman"/>
                <a:cs typeface="Times New Roman"/>
              </a:rPr>
              <a:t>Performance comparison </a:t>
            </a:r>
            <a:endParaRPr lang="en-US" sz="1700"/>
          </a:p>
          <a:p>
            <a:pPr marL="285750" indent="-285750">
              <a:buFont typeface="Arial"/>
              <a:buChar char="•"/>
            </a:pPr>
            <a:r>
              <a:rPr lang="en-US" sz="1700">
                <a:latin typeface="Times New Roman"/>
                <a:cs typeface="Times New Roman"/>
              </a:rPr>
              <a:t>Risk and return analysis </a:t>
            </a:r>
          </a:p>
          <a:p>
            <a:pPr marL="285750" indent="-285750">
              <a:buFont typeface="Arial"/>
              <a:buChar char="•"/>
            </a:pPr>
            <a:r>
              <a:rPr lang="en-US" sz="1700">
                <a:latin typeface="Times New Roman"/>
                <a:cs typeface="Times New Roman"/>
              </a:rPr>
              <a:t>Interactive fund analysis </a:t>
            </a:r>
          </a:p>
          <a:p>
            <a:pPr marL="285750" indent="-285750">
              <a:buFont typeface="Arial"/>
              <a:buChar char="•"/>
            </a:pPr>
            <a:r>
              <a:rPr lang="en-US" sz="1700">
                <a:latin typeface="Times New Roman"/>
                <a:cs typeface="Times New Roman"/>
              </a:rPr>
              <a:t>Scheme-level comparison</a:t>
            </a:r>
            <a:endParaRPr lang="en-US" sz="1700"/>
          </a:p>
          <a:p>
            <a:pPr algn="ctr"/>
            <a:endParaRPr lang="en-US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124597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9A450-5C04-3AB0-94D8-9A1EF1AD1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FC9663-E645-7519-9DA1-EB55C4AD9DA7}"/>
              </a:ext>
            </a:extLst>
          </p:cNvPr>
          <p:cNvSpPr txBox="1"/>
          <p:nvPr/>
        </p:nvSpPr>
        <p:spPr>
          <a:xfrm>
            <a:off x="425823" y="134471"/>
            <a:ext cx="11878235" cy="13542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Times New Roman"/>
                <a:cs typeface="Times New Roman"/>
              </a:rPr>
              <a:t>                              </a:t>
            </a:r>
            <a:r>
              <a:rPr lang="en-US" sz="3200" b="1">
                <a:latin typeface="Times New Roman"/>
                <a:cs typeface="Times New Roman"/>
              </a:rPr>
              <a:t>ADVANCED ANALYTICS &amp; KEY FINDINGS</a:t>
            </a:r>
            <a:endParaRPr lang="en-US" dirty="0"/>
          </a:p>
          <a:p>
            <a:endParaRPr lang="en-US" sz="3200" b="1" dirty="0">
              <a:latin typeface="Times New Roman"/>
              <a:cs typeface="Times New Roman"/>
            </a:endParaRPr>
          </a:p>
          <a:p>
            <a:pPr marL="285750" indent="-285750" algn="ctr">
              <a:buFont typeface="Arial"/>
              <a:buChar char="•"/>
            </a:pP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3501A7-05A7-AD41-820D-A2F9675EC0E7}"/>
              </a:ext>
            </a:extLst>
          </p:cNvPr>
          <p:cNvSpPr txBox="1"/>
          <p:nvPr/>
        </p:nvSpPr>
        <p:spPr>
          <a:xfrm>
            <a:off x="313765" y="806825"/>
            <a:ext cx="11878235" cy="59093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Times New Roman"/>
                <a:cs typeface="Times New Roman"/>
              </a:rPr>
              <a:t>Fund Downside Risk</a:t>
            </a:r>
            <a:endParaRPr lang="en-US" b="1" dirty="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dirty="0">
                <a:latin typeface="Times New Roman"/>
                <a:cs typeface="Times New Roman"/>
              </a:rPr>
              <a:t>Highest </a:t>
            </a:r>
            <a:r>
              <a:rPr lang="en-US" dirty="0" err="1">
                <a:latin typeface="Times New Roman"/>
                <a:cs typeface="Times New Roman"/>
              </a:rPr>
              <a:t>VaR</a:t>
            </a:r>
            <a:r>
              <a:rPr lang="en-US" dirty="0">
                <a:latin typeface="Times New Roman"/>
                <a:cs typeface="Times New Roman"/>
              </a:rPr>
              <a:t>: SBI Small Cap Fund - Direct Plan - Growth </a:t>
            </a:r>
          </a:p>
          <a:p>
            <a:pPr>
              <a:buFont typeface="Arial"/>
              <a:buChar char="•"/>
            </a:pPr>
            <a:r>
              <a:rPr lang="en-US" dirty="0">
                <a:latin typeface="Times New Roman"/>
                <a:cs typeface="Times New Roman"/>
              </a:rPr>
              <a:t>95% </a:t>
            </a:r>
            <a:r>
              <a:rPr lang="en-US" dirty="0" err="1">
                <a:latin typeface="Times New Roman"/>
                <a:cs typeface="Times New Roman"/>
              </a:rPr>
              <a:t>VaR</a:t>
            </a:r>
            <a:r>
              <a:rPr lang="en-US" dirty="0">
                <a:latin typeface="Times New Roman"/>
                <a:cs typeface="Times New Roman"/>
              </a:rPr>
              <a:t>: approximately -2.69% </a:t>
            </a:r>
          </a:p>
          <a:p>
            <a:pPr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Highest CVaR: ABSL Small Cap Fund - Regular - Growth </a:t>
            </a:r>
            <a:endParaRPr lang="en-US" dirty="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95% CVaR: approximately -3.25%</a:t>
            </a:r>
            <a:r>
              <a:rPr lang="en-US" dirty="0">
                <a:latin typeface="Times New Roman"/>
                <a:cs typeface="Times New Roman"/>
              </a:rPr>
              <a:t> </a:t>
            </a:r>
          </a:p>
          <a:p>
            <a:r>
              <a:rPr lang="en-US" b="1" dirty="0">
                <a:latin typeface="Times New Roman"/>
                <a:cs typeface="Times New Roman"/>
              </a:rPr>
              <a:t>Investor Cohort </a:t>
            </a:r>
            <a:r>
              <a:rPr lang="en-US" b="1" dirty="0" err="1">
                <a:latin typeface="Times New Roman"/>
                <a:cs typeface="Times New Roman"/>
              </a:rPr>
              <a:t>Behaviour</a:t>
            </a:r>
            <a:endParaRPr lang="en-US" b="1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Highest total investment cohort: 2024 </a:t>
            </a:r>
            <a:endParaRPr lang="en-US" dirty="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Total investment: approximately ₹21.50 crore</a:t>
            </a:r>
            <a:r>
              <a:rPr lang="en-US" dirty="0">
                <a:latin typeface="Times New Roman"/>
                <a:cs typeface="Times New Roman"/>
              </a:rPr>
              <a:t> </a:t>
            </a:r>
          </a:p>
          <a:p>
            <a:pPr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Highest average SIP cohort: 2025 </a:t>
            </a:r>
            <a:endParaRPr lang="en-US" dirty="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Average SIP: approximately ₹13,505.21</a:t>
            </a:r>
            <a:r>
              <a:rPr lang="en-US" dirty="0">
                <a:latin typeface="Times New Roman"/>
                <a:cs typeface="Times New Roman"/>
              </a:rPr>
              <a:t> </a:t>
            </a:r>
          </a:p>
          <a:p>
            <a:r>
              <a:rPr lang="en-US" b="1">
                <a:latin typeface="Times New Roman"/>
                <a:cs typeface="Times New Roman"/>
              </a:rPr>
              <a:t>SIP Continuity</a:t>
            </a:r>
            <a:endParaRPr lang="en-US" b="1" dirty="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Regular SIP rate: 2.2% </a:t>
            </a:r>
            <a:endParaRPr lang="en-US" dirty="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At-risk SIP rate: 97.8% </a:t>
            </a:r>
            <a:endParaRPr lang="en-US" dirty="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At-risk investors were identified using the 35-day average SIP-gap threshold. </a:t>
            </a:r>
            <a:endParaRPr lang="en-US" dirty="0">
              <a:latin typeface="Times New Roman"/>
              <a:cs typeface="Times New Roman"/>
            </a:endParaRPr>
          </a:p>
          <a:p>
            <a:r>
              <a:rPr lang="en-US" b="1">
                <a:latin typeface="Times New Roman"/>
                <a:cs typeface="Times New Roman"/>
              </a:rPr>
              <a:t>Portfolio Concentration</a:t>
            </a:r>
            <a:endParaRPr lang="en-US" b="1" dirty="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dirty="0">
                <a:latin typeface="Times New Roman"/>
                <a:cs typeface="Times New Roman"/>
              </a:rPr>
              <a:t>Highest HHI: Axis </a:t>
            </a:r>
            <a:r>
              <a:rPr lang="en-US" dirty="0" err="1">
                <a:latin typeface="Times New Roman"/>
                <a:cs typeface="Times New Roman"/>
              </a:rPr>
              <a:t>Bluechip</a:t>
            </a:r>
            <a:r>
              <a:rPr lang="en-US" dirty="0">
                <a:latin typeface="Times New Roman"/>
                <a:cs typeface="Times New Roman"/>
              </a:rPr>
              <a:t> Fund — 0.2968 </a:t>
            </a:r>
          </a:p>
          <a:p>
            <a:pPr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Lowest HHI: UTI Mid Cap Fund — 0.1240</a:t>
            </a:r>
            <a:r>
              <a:rPr lang="en-US" dirty="0">
                <a:latin typeface="Times New Roman"/>
                <a:cs typeface="Times New Roman"/>
              </a:rPr>
              <a:t> </a:t>
            </a:r>
          </a:p>
          <a:p>
            <a:r>
              <a:rPr lang="en-US" b="1">
                <a:latin typeface="Times New Roman"/>
                <a:cs typeface="Times New Roman"/>
              </a:rPr>
              <a:t>Key Takeaway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Advanced analytics combines risk, investor </a:t>
            </a:r>
            <a:r>
              <a:rPr lang="en-US" err="1">
                <a:latin typeface="Times New Roman"/>
                <a:cs typeface="Times New Roman"/>
              </a:rPr>
              <a:t>behaviour</a:t>
            </a:r>
            <a:r>
              <a:rPr lang="en-US">
                <a:latin typeface="Times New Roman"/>
                <a:cs typeface="Times New Roman"/>
              </a:rPr>
              <a:t> and portfolio concentration to provide deeper insights beyond basic performance analysis.</a:t>
            </a:r>
            <a:endParaRPr lang="en-US"/>
          </a:p>
          <a:p>
            <a:pPr algn="ctr"/>
            <a:endParaRPr lang="en-US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593582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B218E-F185-DB27-ACAC-8733C9D60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608C1A-6134-4A5F-D6A5-880FEB9D4EB1}"/>
              </a:ext>
            </a:extLst>
          </p:cNvPr>
          <p:cNvSpPr txBox="1"/>
          <p:nvPr/>
        </p:nvSpPr>
        <p:spPr>
          <a:xfrm>
            <a:off x="2696863" y="2395853"/>
            <a:ext cx="7909346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8000" b="1">
                <a:latin typeface="Times New Roman"/>
                <a:ea typeface="+mn-lt"/>
                <a:cs typeface="Times New Roman"/>
              </a:rPr>
              <a:t>THANK YOU</a:t>
            </a:r>
            <a:endParaRPr lang="en-US" sz="8000" b="1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229539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BLUESTOCK MUTUAL FUND ANALYTICS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329</cp:revision>
  <dcterms:created xsi:type="dcterms:W3CDTF">2026-08-11T10:39:53Z</dcterms:created>
  <dcterms:modified xsi:type="dcterms:W3CDTF">2026-08-13T10:34:35Z</dcterms:modified>
</cp:coreProperties>
</file>